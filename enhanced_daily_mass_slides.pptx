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defRPr sz="6000" b="1">
                <a:solidFill>
                  <a:srgbClr val="000064"/>
                </a:solidFill>
              </a:defRPr>
            </a:pPr>
            <a:r>
              <a:t>Daily Catholic Mass</a:t>
            </a:r>
          </a:p>
        </p:txBody>
      </p:sp>
      <p:sp>
        <p:nvSpPr>
          <p:cNvPr id="3" name="TextBox 2"/>
          <p:cNvSpPr txBox="1"/>
          <p:nvPr/>
        </p:nvSpPr>
        <p:spPr>
          <a:xfrm>
            <a:off x="914400" y="4114800"/>
            <a:ext cx="10360152" cy="1371600"/>
          </a:xfrm>
          <a:prstGeom prst="rect">
            <a:avLst/>
          </a:prstGeom>
          <a:noFill/>
        </p:spPr>
        <p:txBody>
          <a:bodyPr wrap="none">
            <a:spAutoFit/>
          </a:bodyPr>
          <a:lstStyle/>
          <a:p>
            <a:pPr algn="ctr">
              <a:defRPr sz="4000"/>
            </a:pPr>
            <a:r>
              <a:t>Morning Prayer and Readings</a:t>
            </a:r>
          </a:p>
        </p:txBody>
      </p:sp>
      <p:sp>
        <p:nvSpPr>
          <p:cNvPr id="4" name="TextBox 3"/>
          <p:cNvSpPr txBox="1"/>
          <p:nvPr/>
        </p:nvSpPr>
        <p:spPr>
          <a:xfrm>
            <a:off x="914400" y="5486400"/>
            <a:ext cx="10360152" cy="914400"/>
          </a:xfrm>
          <a:prstGeom prst="rect">
            <a:avLst/>
          </a:prstGeom>
          <a:noFill/>
        </p:spPr>
        <p:txBody>
          <a:bodyPr wrap="none">
            <a:spAutoFit/>
          </a:bodyPr>
          <a:lstStyle/>
          <a:p>
            <a:pPr algn="ctr">
              <a:defRPr sz="3200" i="1"/>
            </a:pPr>
            <a:r>
              <a:t>November 08, 2025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57200"/>
            <a:ext cx="10360152" cy="914400"/>
          </a:xfrm>
          <a:prstGeom prst="rect">
            <a:avLst/>
          </a:prstGeom>
          <a:noFill/>
        </p:spPr>
        <p:txBody>
          <a:bodyPr wrap="none">
            <a:spAutoFit/>
          </a:bodyPr>
          <a:lstStyle/>
          <a:p>
            <a:pPr algn="ctr">
              <a:defRPr sz="4800" b="1">
                <a:solidFill>
                  <a:srgbClr val="000096"/>
                </a:solidFill>
              </a:defRPr>
            </a:pPr>
            <a:r>
              <a:t>Antiphon 1</a:t>
            </a:r>
          </a:p>
        </p:txBody>
      </p:sp>
      <p:sp>
        <p:nvSpPr>
          <p:cNvPr id="3" name="TextBox 2"/>
          <p:cNvSpPr txBox="1"/>
          <p:nvPr/>
        </p:nvSpPr>
        <p:spPr>
          <a:xfrm>
            <a:off x="914400" y="1371600"/>
            <a:ext cx="10360152" cy="731520"/>
          </a:xfrm>
          <a:prstGeom prst="rect">
            <a:avLst/>
          </a:prstGeom>
          <a:noFill/>
        </p:spPr>
        <p:txBody>
          <a:bodyPr wrap="none">
            <a:spAutoFit/>
          </a:bodyPr>
          <a:lstStyle/>
          <a:p>
            <a:pPr algn="ctr">
              <a:defRPr sz="2400" i="1">
                <a:solidFill>
                  <a:srgbClr val="646464"/>
                </a:solidFill>
              </a:defRPr>
            </a:pPr>
            <a:r>
              <a:t>(Audience and Priest together)</a:t>
            </a:r>
          </a:p>
        </p:txBody>
      </p:sp>
      <p:sp>
        <p:nvSpPr>
          <p:cNvPr id="4" name="TextBox 3"/>
          <p:cNvSpPr txBox="1"/>
          <p:nvPr/>
        </p:nvSpPr>
        <p:spPr>
          <a:xfrm>
            <a:off x="457200" y="2286000"/>
            <a:ext cx="11274552" cy="3657600"/>
          </a:xfrm>
          <a:prstGeom prst="rect">
            <a:avLst/>
          </a:prstGeom>
          <a:noFill/>
        </p:spPr>
        <p:txBody>
          <a:bodyPr wrap="none">
            <a:spAutoFit/>
          </a:bodyPr>
          <a:lstStyle/>
          <a:p>
            <a:pPr algn="ctr">
              <a:defRPr sz="4000" b="1">
                <a:solidFill>
                  <a:srgbClr val="0064C8"/>
                </a:solidFill>
              </a:defRPr>
            </a:pPr>
            <a:r>
              <a:t>Come, worship the Lord, for we are his people, the flock he shepherds, alleluia.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57200"/>
            <a:ext cx="10360152" cy="914400"/>
          </a:xfrm>
          <a:prstGeom prst="rect">
            <a:avLst/>
          </a:prstGeom>
          <a:noFill/>
        </p:spPr>
        <p:txBody>
          <a:bodyPr wrap="none">
            <a:spAutoFit/>
          </a:bodyPr>
          <a:lstStyle/>
          <a:p>
            <a:pPr algn="ctr">
              <a:defRPr sz="4800" b="1">
                <a:solidFill>
                  <a:srgbClr val="960000"/>
                </a:solidFill>
              </a:defRPr>
            </a:pPr>
            <a:r>
              <a:t>Priest Response</a:t>
            </a:r>
          </a:p>
        </p:txBody>
      </p:sp>
      <p:sp>
        <p:nvSpPr>
          <p:cNvPr id="3" name="TextBox 2"/>
          <p:cNvSpPr txBox="1"/>
          <p:nvPr/>
        </p:nvSpPr>
        <p:spPr>
          <a:xfrm>
            <a:off x="914400" y="1371600"/>
            <a:ext cx="10360152" cy="731520"/>
          </a:xfrm>
          <a:prstGeom prst="rect">
            <a:avLst/>
          </a:prstGeom>
          <a:noFill/>
        </p:spPr>
        <p:txBody>
          <a:bodyPr wrap="none">
            <a:spAutoFit/>
          </a:bodyPr>
          <a:lstStyle/>
          <a:p>
            <a:pPr algn="ctr">
              <a:defRPr sz="2400" i="1">
                <a:solidFill>
                  <a:srgbClr val="646464"/>
                </a:solidFill>
              </a:defRPr>
            </a:pPr>
            <a:r>
              <a:t>(Priest only)</a:t>
            </a:r>
          </a:p>
        </p:txBody>
      </p:sp>
      <p:sp>
        <p:nvSpPr>
          <p:cNvPr id="4" name="TextBox 3"/>
          <p:cNvSpPr txBox="1"/>
          <p:nvPr/>
        </p:nvSpPr>
        <p:spPr>
          <a:xfrm>
            <a:off x="457200" y="2286000"/>
            <a:ext cx="11274552" cy="3657600"/>
          </a:xfrm>
          <a:prstGeom prst="rect">
            <a:avLst/>
          </a:prstGeom>
          <a:noFill/>
        </p:spPr>
        <p:txBody>
          <a:bodyPr wrap="none">
            <a:spAutoFit/>
          </a:bodyPr>
          <a:lstStyle/>
          <a:p>
            <a:pPr algn="ctr">
              <a:defRPr sz="3600" b="1">
                <a:solidFill>
                  <a:srgbClr val="C80000"/>
                </a:solidFill>
              </a:defRPr>
            </a:pPr>
            <a:r>
              <a:t>Come, let us sing to the Lord *  and shout with joy to the Rock who saves us.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57200"/>
            <a:ext cx="10360152" cy="914400"/>
          </a:xfrm>
          <a:prstGeom prst="rect">
            <a:avLst/>
          </a:prstGeom>
          <a:noFill/>
        </p:spPr>
        <p:txBody>
          <a:bodyPr wrap="none">
            <a:spAutoFit/>
          </a:bodyPr>
          <a:lstStyle/>
          <a:p>
            <a:pPr algn="ctr">
              <a:defRPr sz="4800" b="1">
                <a:solidFill>
                  <a:srgbClr val="000064"/>
                </a:solidFill>
              </a:defRPr>
            </a:pPr>
            <a:r>
              <a:t>First Reading</a:t>
            </a:r>
          </a:p>
        </p:txBody>
      </p:sp>
      <p:sp>
        <p:nvSpPr>
          <p:cNvPr id="3" name="TextBox 2"/>
          <p:cNvSpPr txBox="1"/>
          <p:nvPr/>
        </p:nvSpPr>
        <p:spPr>
          <a:xfrm>
            <a:off x="457200" y="1645920"/>
            <a:ext cx="11274552" cy="4572000"/>
          </a:xfrm>
          <a:prstGeom prst="rect">
            <a:avLst/>
          </a:prstGeom>
          <a:noFill/>
        </p:spPr>
        <p:txBody>
          <a:bodyPr wrap="square">
            <a:spAutoFit/>
          </a:bodyPr>
          <a:lstStyle/>
          <a:p>
            <a:pPr algn="l">
              <a:spcAft>
                <a:spcPts val="1200"/>
              </a:spcAft>
              <a:defRPr sz="2800"/>
            </a:pPr>
            <a:r>
              <a:t>One of the brothers, speaking for the others, said: “What do you expect to achieve by questioning us?We are ready to die rather than transgress the laws of our ancestors.”At the point of death he said: “You accursed fiend, you are depriving us of this present life, but the King of the world will raise us up to live again forever.It is for his laws that we are dying.”After him the third suffered their cruel sport.He put out his tongue at once when told to do so, and bravely held out his hands, as he spoke these noble words: “It was from Heaven that I received these; for the sake of his laws I disdain them; from him I hope to receive them again.”Even the king and his attendants marveled at the young man’s courage, because he regarded his sufferings as nothing.After he had died, they tortured and maltreated the fourth brother in the same way.When he was near death, he said, “It is my choice to die at the hands of men with the hope God gives of being raised up by him; but for you, there wi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57200"/>
            <a:ext cx="10360152" cy="914400"/>
          </a:xfrm>
          <a:prstGeom prst="rect">
            <a:avLst/>
          </a:prstGeom>
          <a:noFill/>
        </p:spPr>
        <p:txBody>
          <a:bodyPr wrap="none">
            <a:spAutoFit/>
          </a:bodyPr>
          <a:lstStyle/>
          <a:p>
            <a:pPr algn="ctr">
              <a:defRPr sz="4800" b="1">
                <a:solidFill>
                  <a:srgbClr val="000064"/>
                </a:solidFill>
              </a:defRPr>
            </a:pPr>
            <a:r>
              <a:t>Gospel</a:t>
            </a:r>
          </a:p>
        </p:txBody>
      </p:sp>
      <p:sp>
        <p:nvSpPr>
          <p:cNvPr id="3" name="TextBox 2"/>
          <p:cNvSpPr txBox="1"/>
          <p:nvPr/>
        </p:nvSpPr>
        <p:spPr>
          <a:xfrm>
            <a:off x="457200" y="1645920"/>
            <a:ext cx="11274552" cy="4572000"/>
          </a:xfrm>
          <a:prstGeom prst="rect">
            <a:avLst/>
          </a:prstGeom>
          <a:noFill/>
        </p:spPr>
        <p:txBody>
          <a:bodyPr wrap="square">
            <a:spAutoFit/>
          </a:bodyPr>
          <a:lstStyle/>
          <a:p>
            <a:pPr algn="l">
              <a:spcAft>
                <a:spcPts val="1200"/>
              </a:spcAft>
              <a:defRPr sz="2800"/>
            </a:pPr>
            <a:r>
              <a:t>, the Deacon, or the Priest, acclaims:The Gospel of the Lord.All reply:Praise to you, Lord Jesus Christ.Then he kisses the book, saying quietly:Through the words of the Gospelmay our sins be wiped away.The Creed is said. - Menu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